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987552"/>
            <a:ext cx="91440" cy="4224528"/>
          </a:xfrm>
          <a:prstGeom prst="rect">
            <a:avLst/>
          </a:prstGeom>
          <a:solidFill>
            <a:srgbClr val="4ED7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33271"/>
            <a:ext cx="97840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4ED7C6"/>
                </a:solidFill>
                <a:latin typeface="Aptos"/>
              </a:rPr>
              <a:t>GPU SPARSE COMPUTATION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55064"/>
            <a:ext cx="10058400" cy="1426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4200" b="1">
                <a:solidFill>
                  <a:srgbClr val="F7FAFC"/>
                </a:solidFill>
                <a:latin typeface="Aptos"/>
              </a:rPr>
              <a:t>ILU0 dependency
scheduling benchmarks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474720"/>
            <a:ext cx="9784080" cy="5760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200" b="0">
                <a:solidFill>
                  <a:srgbClr val="AABECF"/>
                </a:solidFill>
                <a:latin typeface="Aptos"/>
              </a:rPr>
              <a:t>Wavefront and sync-free execution on SuiteSparse bcsstk36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4718304"/>
            <a:ext cx="3337560" cy="429768"/>
          </a:xfrm>
          <a:prstGeom prst="roundRect">
            <a:avLst>
              <a:gd name="adj" fmla="val 12000"/>
            </a:avLst>
          </a:prstGeom>
          <a:solidFill>
            <a:srgbClr val="16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2144" y="4754880"/>
            <a:ext cx="3081528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F7FAFC"/>
                </a:solidFill>
                <a:latin typeface="Aptos"/>
              </a:rPr>
              <a:t>Row-dependency kernel study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6199632"/>
            <a:ext cx="99669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AABECF"/>
                </a:solidFill>
                <a:latin typeface="Aptos"/>
              </a:rPr>
              <a:t>Based on the repository's saved benchmark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38912"/>
            <a:ext cx="73152" cy="448056"/>
          </a:xfrm>
          <a:prstGeom prst="rect">
            <a:avLst/>
          </a:prstGeom>
          <a:solidFill>
            <a:srgbClr val="4ED7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320040"/>
            <a:ext cx="1069848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4ED7C6"/>
                </a:solidFill>
                <a:latin typeface="Aptos"/>
              </a:rPr>
              <a:t>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667512"/>
            <a:ext cx="1083564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900" b="1">
                <a:solidFill>
                  <a:srgbClr val="F7FAFC"/>
                </a:solidFill>
                <a:latin typeface="Aptos"/>
              </a:rPr>
              <a:t>What was measured?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1009376" cy="13716"/>
          </a:xfrm>
          <a:prstGeom prst="rect">
            <a:avLst/>
          </a:prstGeom>
          <a:solidFill>
            <a:srgbClr val="1D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47104"/>
            <a:ext cx="99669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ABECF"/>
                </a:solidFill>
                <a:latin typeface="Aptos"/>
              </a:rPr>
              <a:t>Source: local ILU0 benchmark code and saved SuiteSparse bcsstk36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19672"/>
            <a:ext cx="45720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AABECF"/>
                </a:solidFill>
                <a:latin typeface="Aptos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5266944" cy="3639312"/>
          </a:xfrm>
          <a:prstGeom prst="roundRect">
            <a:avLst>
              <a:gd name="adj" fmla="val 12000"/>
            </a:avLst>
          </a:prstGeom>
          <a:solidFill>
            <a:srgbClr val="16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1828800"/>
            <a:ext cx="54864" cy="438912"/>
          </a:xfrm>
          <a:prstGeom prst="rect">
            <a:avLst/>
          </a:prstGeom>
          <a:solidFill>
            <a:srgbClr val="69B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1783080"/>
            <a:ext cx="4718304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F7FAFC"/>
                </a:solidFill>
                <a:latin typeface="Aptos"/>
              </a:rPr>
              <a:t>Each row waits for earlier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432304"/>
            <a:ext cx="4709159" cy="2651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0">
                <a:solidFill>
                  <a:srgbClr val="AABECF"/>
                </a:solidFill>
                <a:latin typeface="Aptos"/>
              </a:rPr>
              <a:t>For every lower-triangular entry j &lt; i, row i reads the result of row j. That gives a directed edge j → i in the dependency graph.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600200"/>
            <a:ext cx="5266944" cy="3639312"/>
          </a:xfrm>
          <a:prstGeom prst="roundRect">
            <a:avLst>
              <a:gd name="adj" fmla="val 12000"/>
            </a:avLst>
          </a:prstGeom>
          <a:solidFill>
            <a:srgbClr val="16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1947672"/>
            <a:ext cx="4517136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F7FAFC"/>
                </a:solidFill>
                <a:latin typeface="Aptos"/>
              </a:rPr>
              <a:t>Benchmark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2514600"/>
            <a:ext cx="4572000" cy="11430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200" b="0">
                <a:solidFill>
                  <a:srgbClr val="4ED7C6"/>
                </a:solidFill>
                <a:latin typeface="Aptos Mono"/>
              </a:rPr>
              <a:t>row_done[i] = 1 + Σ row_done[j]
                   for j &lt; i in row 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4041648"/>
            <a:ext cx="4544568" cy="8046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FB75F"/>
                </a:solidFill>
                <a:latin typeface="Aptos"/>
              </a:rPr>
              <a:t>This is a dependency surrogate. It does not compute the numerical ILU0 factors.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733288"/>
            <a:ext cx="1069848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F7FAFC"/>
                </a:solidFill>
                <a:latin typeface="Aptos"/>
              </a:rPr>
              <a:t>The study isolates scheduling and DAG preparation costs.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38912"/>
            <a:ext cx="73152" cy="448056"/>
          </a:xfrm>
          <a:prstGeom prst="rect">
            <a:avLst/>
          </a:prstGeom>
          <a:solidFill>
            <a:srgbClr val="4ED7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320040"/>
            <a:ext cx="1069848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4ED7C6"/>
                </a:solidFill>
                <a:latin typeface="Aptos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667512"/>
            <a:ext cx="1083564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900" b="1">
                <a:solidFill>
                  <a:srgbClr val="F7FAFC"/>
                </a:solidFill>
                <a:latin typeface="Aptos"/>
              </a:rPr>
              <a:t>One dependency graph, two schedulers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1009376" cy="13716"/>
          </a:xfrm>
          <a:prstGeom prst="rect">
            <a:avLst/>
          </a:prstGeom>
          <a:solidFill>
            <a:srgbClr val="1D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47104"/>
            <a:ext cx="99669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ABECF"/>
                </a:solidFill>
                <a:latin typeface="Aptos"/>
              </a:rPr>
              <a:t>Source: local ILU0 benchmark code and saved SuiteSparse bcsstk36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19672"/>
            <a:ext cx="45720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AABECF"/>
                </a:solidFill>
                <a:latin typeface="Apto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463040"/>
            <a:ext cx="4754880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69B2FA"/>
                </a:solidFill>
                <a:latin typeface="Aptos"/>
              </a:rPr>
              <a:t>Wavefront: synchronized batches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38528"/>
            <a:ext cx="5330952" cy="3099816"/>
          </a:xfrm>
          <a:prstGeom prst="roundRect">
            <a:avLst>
              <a:gd name="adj" fmla="val 12000"/>
            </a:avLst>
          </a:prstGeom>
          <a:solidFill>
            <a:srgbClr val="16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0704" y="2304288"/>
            <a:ext cx="4535424" cy="530352"/>
          </a:xfrm>
          <a:prstGeom prst="roundRect">
            <a:avLst>
              <a:gd name="adj" fmla="val 12000"/>
            </a:avLst>
          </a:prstGeom>
          <a:solidFill>
            <a:srgbClr val="1D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71016" y="2331720"/>
            <a:ext cx="3977639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7FAFC"/>
                </a:solidFill>
                <a:latin typeface="Aptos"/>
              </a:rPr>
              <a:t>A      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60704" y="3154680"/>
            <a:ext cx="4535424" cy="530352"/>
          </a:xfrm>
          <a:prstGeom prst="roundRect">
            <a:avLst>
              <a:gd name="adj" fmla="val 12000"/>
            </a:avLst>
          </a:prstGeom>
          <a:solidFill>
            <a:srgbClr val="1D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71016" y="3182112"/>
            <a:ext cx="3977639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7FAFC"/>
                </a:solidFill>
                <a:latin typeface="Aptos"/>
              </a:rPr>
              <a:t>C      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0704" y="4005072"/>
            <a:ext cx="4535424" cy="530352"/>
          </a:xfrm>
          <a:prstGeom prst="roundRect">
            <a:avLst>
              <a:gd name="adj" fmla="val 12000"/>
            </a:avLst>
          </a:prstGeom>
          <a:solidFill>
            <a:srgbClr val="1D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71016" y="4032504"/>
            <a:ext cx="3977639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7FAFC"/>
                </a:solidFill>
                <a:latin typeface="Aptos"/>
              </a:rPr>
              <a:t>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5239512"/>
            <a:ext cx="4754880" cy="7040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AABECF"/>
                </a:solidFill>
                <a:latin typeface="Aptos"/>
              </a:rPr>
              <a:t>Launch a wave → wait for all rows → launch the next wave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463040"/>
            <a:ext cx="4754880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4ED7C6"/>
                </a:solidFill>
                <a:latin typeface="Aptos"/>
              </a:rPr>
              <a:t>Sync-free: ready rows proceed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938528"/>
            <a:ext cx="5330952" cy="3099816"/>
          </a:xfrm>
          <a:prstGeom prst="roundRect">
            <a:avLst>
              <a:gd name="adj" fmla="val 12000"/>
            </a:avLst>
          </a:prstGeom>
          <a:solidFill>
            <a:srgbClr val="16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59752" y="2990088"/>
            <a:ext cx="1335024" cy="594360"/>
          </a:xfrm>
          <a:prstGeom prst="line">
            <a:avLst/>
          </a:prstGeom>
          <a:ln w="22860">
            <a:solidFill>
              <a:srgbClr val="AA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159752" y="3017520"/>
            <a:ext cx="2395728" cy="566928"/>
          </a:xfrm>
          <a:prstGeom prst="line">
            <a:avLst/>
          </a:prstGeom>
          <a:ln w="22860">
            <a:solidFill>
              <a:srgbClr val="AA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93608" y="3017520"/>
            <a:ext cx="1261872" cy="566928"/>
          </a:xfrm>
          <a:prstGeom prst="line">
            <a:avLst/>
          </a:prstGeom>
          <a:ln w="22860">
            <a:solidFill>
              <a:srgbClr val="AA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061704" y="3840480"/>
            <a:ext cx="1069848" cy="512064"/>
          </a:xfrm>
          <a:prstGeom prst="line">
            <a:avLst/>
          </a:prstGeom>
          <a:ln w="22860">
            <a:solidFill>
              <a:srgbClr val="AA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104120" y="3867912"/>
            <a:ext cx="283464" cy="210312"/>
          </a:xfrm>
          <a:prstGeom prst="line">
            <a:avLst/>
          </a:prstGeom>
          <a:ln w="22860">
            <a:solidFill>
              <a:srgbClr val="AA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629400" y="2532888"/>
            <a:ext cx="566928" cy="566928"/>
          </a:xfrm>
          <a:prstGeom prst="ellipse">
            <a:avLst/>
          </a:prstGeom>
          <a:solidFill>
            <a:srgbClr val="69B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2542032"/>
            <a:ext cx="566928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C1B2E"/>
                </a:solidFill>
                <a:latin typeface="Aptos"/>
              </a:rPr>
              <a:t>A</a:t>
            </a:r>
          </a:p>
        </p:txBody>
      </p:sp>
      <p:sp>
        <p:nvSpPr>
          <p:cNvPr id="27" name="Oval 26"/>
          <p:cNvSpPr/>
          <p:nvPr/>
        </p:nvSpPr>
        <p:spPr>
          <a:xfrm>
            <a:off x="7763256" y="2532888"/>
            <a:ext cx="566928" cy="566928"/>
          </a:xfrm>
          <a:prstGeom prst="ellipse">
            <a:avLst/>
          </a:prstGeom>
          <a:solidFill>
            <a:srgbClr val="69B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63256" y="2542032"/>
            <a:ext cx="566928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C1B2E"/>
                </a:solidFill>
                <a:latin typeface="Aptos"/>
              </a:rPr>
              <a:t>B</a:t>
            </a:r>
          </a:p>
        </p:txBody>
      </p:sp>
      <p:sp>
        <p:nvSpPr>
          <p:cNvPr id="29" name="Oval 28"/>
          <p:cNvSpPr/>
          <p:nvPr/>
        </p:nvSpPr>
        <p:spPr>
          <a:xfrm>
            <a:off x="8494776" y="3300984"/>
            <a:ext cx="566928" cy="566928"/>
          </a:xfrm>
          <a:prstGeom prst="ellipse">
            <a:avLst/>
          </a:prstGeom>
          <a:solidFill>
            <a:srgbClr val="4ED7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94776" y="3310127"/>
            <a:ext cx="566928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C1B2E"/>
                </a:solidFill>
                <a:latin typeface="Aptos"/>
              </a:rPr>
              <a:t>C</a:t>
            </a:r>
          </a:p>
        </p:txBody>
      </p:sp>
      <p:sp>
        <p:nvSpPr>
          <p:cNvPr id="31" name="Oval 30"/>
          <p:cNvSpPr/>
          <p:nvPr/>
        </p:nvSpPr>
        <p:spPr>
          <a:xfrm>
            <a:off x="9555480" y="3300984"/>
            <a:ext cx="566928" cy="566928"/>
          </a:xfrm>
          <a:prstGeom prst="ellipse">
            <a:avLst/>
          </a:prstGeom>
          <a:solidFill>
            <a:srgbClr val="4ED7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55480" y="3310127"/>
            <a:ext cx="566928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C1B2E"/>
                </a:solidFill>
                <a:latin typeface="Aptos"/>
              </a:rPr>
              <a:t>D</a:t>
            </a:r>
          </a:p>
        </p:txBody>
      </p:sp>
      <p:sp>
        <p:nvSpPr>
          <p:cNvPr id="33" name="Oval 32"/>
          <p:cNvSpPr/>
          <p:nvPr/>
        </p:nvSpPr>
        <p:spPr>
          <a:xfrm>
            <a:off x="10113264" y="4078224"/>
            <a:ext cx="566928" cy="566928"/>
          </a:xfrm>
          <a:prstGeom prst="ellipse">
            <a:avLst/>
          </a:prstGeom>
          <a:solidFill>
            <a:srgbClr val="FFB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3264" y="4087368"/>
            <a:ext cx="566928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C1B2E"/>
                </a:solidFill>
                <a:latin typeface="Aptos"/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47104" y="5239512"/>
            <a:ext cx="4754880" cy="7040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AABECF"/>
                </a:solidFill>
                <a:latin typeface="Aptos"/>
              </a:rPr>
              <a:t>One launch; atomic counters release each row when ready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6071616"/>
            <a:ext cx="102412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F7FAFC"/>
                </a:solidFill>
                <a:latin typeface="Aptos"/>
              </a:rPr>
              <a:t>‘Sync-free’ removes global wave barriers; rows still coordinate through atomic counters.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38912"/>
            <a:ext cx="73152" cy="448056"/>
          </a:xfrm>
          <a:prstGeom prst="rect">
            <a:avLst/>
          </a:prstGeom>
          <a:solidFill>
            <a:srgbClr val="4ED7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320040"/>
            <a:ext cx="1069848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4ED7C6"/>
                </a:solidFill>
                <a:latin typeface="Aptos"/>
              </a:rPr>
              <a:t>BENCHMARK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667512"/>
            <a:ext cx="1083564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900" b="1">
                <a:solidFill>
                  <a:srgbClr val="F7FAFC"/>
                </a:solidFill>
                <a:latin typeface="Aptos"/>
              </a:rPr>
              <a:t>How to read the five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1009376" cy="13716"/>
          </a:xfrm>
          <a:prstGeom prst="rect">
            <a:avLst/>
          </a:prstGeom>
          <a:solidFill>
            <a:srgbClr val="1D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47104"/>
            <a:ext cx="99669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ABECF"/>
                </a:solidFill>
                <a:latin typeface="Aptos"/>
              </a:rPr>
              <a:t>Source: local ILU0 benchmark code and saved SuiteSparse bcsstk36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19672"/>
            <a:ext cx="45720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AABECF"/>
                </a:solidFill>
                <a:latin typeface="Aptos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08760"/>
            <a:ext cx="3538728" cy="3602736"/>
          </a:xfrm>
          <a:prstGeom prst="roundRect">
            <a:avLst>
              <a:gd name="adj" fmla="val 12000"/>
            </a:avLst>
          </a:prstGeom>
          <a:solidFill>
            <a:srgbClr val="16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59" y="1737360"/>
            <a:ext cx="54864" cy="438912"/>
          </a:xfrm>
          <a:prstGeom prst="rect">
            <a:avLst/>
          </a:prstGeom>
          <a:solidFill>
            <a:srgbClr val="69B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7" y="1691639"/>
            <a:ext cx="2990088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F7FAFC"/>
                </a:solidFill>
                <a:latin typeface="Aptos"/>
              </a:rPr>
              <a:t>GPU end to 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2340864"/>
            <a:ext cx="2980944" cy="2615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900" b="0">
                <a:solidFill>
                  <a:srgbClr val="AABECF"/>
                </a:solidFill>
                <a:latin typeface="Aptos"/>
              </a:rPr>
              <a:t>Build the DAG and schedule, prepare device arrays, execute on GPU, and copy the result back.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1508760"/>
            <a:ext cx="3538728" cy="3602736"/>
          </a:xfrm>
          <a:prstGeom prst="roundRect">
            <a:avLst>
              <a:gd name="adj" fmla="val 12000"/>
            </a:avLst>
          </a:prstGeom>
          <a:solidFill>
            <a:srgbClr val="16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07992" y="1737360"/>
            <a:ext cx="54864" cy="438912"/>
          </a:xfrm>
          <a:prstGeom prst="rect">
            <a:avLst/>
          </a:prstGeom>
          <a:solidFill>
            <a:srgbClr val="4ED7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691639"/>
            <a:ext cx="2990088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F7FAFC"/>
                </a:solidFill>
                <a:latin typeface="Aptos"/>
              </a:rPr>
              <a:t>GPU prepared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340864"/>
            <a:ext cx="2980944" cy="2615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900" b="0">
                <a:solidFill>
                  <a:srgbClr val="AABECF"/>
                </a:solidFill>
                <a:latin typeface="Aptos"/>
              </a:rPr>
              <a:t>DAG and device arguments are prepared before timing. Sync-free resets its counters on every measured run.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1508760"/>
            <a:ext cx="3538728" cy="3602736"/>
          </a:xfrm>
          <a:prstGeom prst="roundRect">
            <a:avLst>
              <a:gd name="adj" fmla="val 12000"/>
            </a:avLst>
          </a:prstGeom>
          <a:solidFill>
            <a:srgbClr val="16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3023" y="1737360"/>
            <a:ext cx="54864" cy="438912"/>
          </a:xfrm>
          <a:prstGeom prst="rect">
            <a:avLst/>
          </a:prstGeom>
          <a:solidFill>
            <a:srgbClr val="FFB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1" y="1691639"/>
            <a:ext cx="2990088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F7FAFC"/>
                </a:solidFill>
                <a:latin typeface="Aptos"/>
              </a:rPr>
              <a:t>CPU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2340864"/>
            <a:ext cx="2980944" cy="2615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900" b="0">
                <a:solidFill>
                  <a:srgbClr val="AABECF"/>
                </a:solidFill>
                <a:latin typeface="Aptos"/>
              </a:rPr>
              <a:t>Execute the same row-dependency loop sequentially. No GPU setup or transfer is needed.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5559552"/>
            <a:ext cx="10561320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7FAFC"/>
                </a:solidFill>
                <a:latin typeface="Aptos"/>
              </a:rPr>
              <a:t>Prepared = steady-state execution; end to end = one run on a new sparsity pattern.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38912"/>
            <a:ext cx="73152" cy="448056"/>
          </a:xfrm>
          <a:prstGeom prst="rect">
            <a:avLst/>
          </a:prstGeom>
          <a:solidFill>
            <a:srgbClr val="4ED7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320040"/>
            <a:ext cx="1069848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4ED7C6"/>
                </a:solidFill>
                <a:latin typeface="Aptos"/>
              </a:rPr>
              <a:t>RESULTS · LOWER IS BETTER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667512"/>
            <a:ext cx="1083564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900" b="1">
                <a:solidFill>
                  <a:srgbClr val="F7FAFC"/>
                </a:solidFill>
                <a:latin typeface="Aptos"/>
              </a:rPr>
              <a:t>Measured latency on bcsstk36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1009376" cy="13716"/>
          </a:xfrm>
          <a:prstGeom prst="rect">
            <a:avLst/>
          </a:prstGeom>
          <a:solidFill>
            <a:srgbClr val="1D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47104"/>
            <a:ext cx="99669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ABECF"/>
                </a:solidFill>
                <a:latin typeface="Aptos"/>
              </a:rPr>
              <a:t>Source: local ILU0 benchmark code and saved SuiteSparse bcsstk36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19672"/>
            <a:ext cx="45720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AABECF"/>
                </a:solidFill>
                <a:latin typeface="Aptos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44752"/>
            <a:ext cx="1060704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AABECF"/>
                </a:solidFill>
                <a:latin typeface="Aptos"/>
              </a:rPr>
              <a:t>SuiteSparse matrix  ·  23,052 × 23,052  ·  1,143,140 nonzeros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38528"/>
            <a:ext cx="283464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F7FAFC"/>
                </a:solidFill>
                <a:latin typeface="Aptos"/>
              </a:rPr>
              <a:t>Wavefront E2E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39312" y="1975104"/>
            <a:ext cx="5943600" cy="329184"/>
          </a:xfrm>
          <a:prstGeom prst="roundRect">
            <a:avLst>
              <a:gd name="adj" fmla="val 12000"/>
            </a:avLst>
          </a:prstGeom>
          <a:solidFill>
            <a:srgbClr val="1D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39312" y="1975104"/>
            <a:ext cx="5943600" cy="329184"/>
          </a:xfrm>
          <a:prstGeom prst="roundRect">
            <a:avLst>
              <a:gd name="adj" fmla="val 12000"/>
            </a:avLst>
          </a:prstGeom>
          <a:solidFill>
            <a:srgbClr val="69B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0" y="1929384"/>
            <a:ext cx="932688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700" b="1">
                <a:solidFill>
                  <a:srgbClr val="F7FAFC"/>
                </a:solidFill>
                <a:latin typeface="Aptos"/>
              </a:rPr>
              <a:t>521.9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35640" y="1929384"/>
            <a:ext cx="60350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69B2FA"/>
                </a:solidFill>
                <a:latin typeface="Aptos"/>
              </a:rPr>
              <a:t>GPU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651760"/>
            <a:ext cx="283464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F7FAFC"/>
                </a:solidFill>
                <a:latin typeface="Aptos"/>
              </a:rPr>
              <a:t>Wavefront Prepared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39312" y="2688336"/>
            <a:ext cx="5943600" cy="329184"/>
          </a:xfrm>
          <a:prstGeom prst="roundRect">
            <a:avLst>
              <a:gd name="adj" fmla="val 12000"/>
            </a:avLst>
          </a:prstGeom>
          <a:solidFill>
            <a:srgbClr val="1D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39312" y="2688336"/>
            <a:ext cx="2972309" cy="329184"/>
          </a:xfrm>
          <a:prstGeom prst="roundRect">
            <a:avLst>
              <a:gd name="adj" fmla="val 12000"/>
            </a:avLst>
          </a:prstGeom>
          <a:solidFill>
            <a:srgbClr val="69B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0" y="2642616"/>
            <a:ext cx="932688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700" b="1">
                <a:solidFill>
                  <a:srgbClr val="F7FAFC"/>
                </a:solidFill>
                <a:latin typeface="Aptos"/>
              </a:rPr>
              <a:t>261.0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35640" y="2642616"/>
            <a:ext cx="60350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69B2FA"/>
                </a:solidFill>
                <a:latin typeface="Aptos"/>
              </a:rPr>
              <a:t>GPU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3364992"/>
            <a:ext cx="283464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F7FAFC"/>
                </a:solidFill>
                <a:latin typeface="Aptos"/>
              </a:rPr>
              <a:t>Sync-free E2E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39312" y="3401568"/>
            <a:ext cx="5943600" cy="329184"/>
          </a:xfrm>
          <a:prstGeom prst="roundRect">
            <a:avLst>
              <a:gd name="adj" fmla="val 12000"/>
            </a:avLst>
          </a:prstGeom>
          <a:solidFill>
            <a:srgbClr val="1D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639312" y="3401568"/>
            <a:ext cx="2786470" cy="329184"/>
          </a:xfrm>
          <a:prstGeom prst="roundRect">
            <a:avLst>
              <a:gd name="adj" fmla="val 12000"/>
            </a:avLst>
          </a:prstGeom>
          <a:solidFill>
            <a:srgbClr val="4ED7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3355848"/>
            <a:ext cx="932688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700" b="1">
                <a:solidFill>
                  <a:srgbClr val="F7FAFC"/>
                </a:solidFill>
                <a:latin typeface="Aptos"/>
              </a:rPr>
              <a:t>244.7 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3355848"/>
            <a:ext cx="60350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4ED7C6"/>
                </a:solidFill>
                <a:latin typeface="Aptos"/>
              </a:rPr>
              <a:t>GPU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078224"/>
            <a:ext cx="283464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F7FAFC"/>
                </a:solidFill>
                <a:latin typeface="Aptos"/>
              </a:rPr>
              <a:t>Sync-free Prepared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39312" y="4114800"/>
            <a:ext cx="5943600" cy="329184"/>
          </a:xfrm>
          <a:prstGeom prst="roundRect">
            <a:avLst>
              <a:gd name="adj" fmla="val 12000"/>
            </a:avLst>
          </a:prstGeom>
          <a:solidFill>
            <a:srgbClr val="1D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639312" y="4114800"/>
            <a:ext cx="325722" cy="329184"/>
          </a:xfrm>
          <a:prstGeom prst="roundRect">
            <a:avLst>
              <a:gd name="adj" fmla="val 12000"/>
            </a:avLst>
          </a:prstGeom>
          <a:solidFill>
            <a:srgbClr val="4ED7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0" y="4069080"/>
            <a:ext cx="932688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700" b="1">
                <a:solidFill>
                  <a:srgbClr val="F7FAFC"/>
                </a:solidFill>
                <a:latin typeface="Aptos"/>
              </a:rPr>
              <a:t>28.6 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35640" y="4069080"/>
            <a:ext cx="60350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4ED7C6"/>
                </a:solidFill>
                <a:latin typeface="Aptos"/>
              </a:rPr>
              <a:t>GPU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4791456"/>
            <a:ext cx="283464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F7FAFC"/>
                </a:solidFill>
                <a:latin typeface="Aptos"/>
              </a:rPr>
              <a:t>CPU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39312" y="4828032"/>
            <a:ext cx="5943600" cy="329184"/>
          </a:xfrm>
          <a:prstGeom prst="roundRect">
            <a:avLst>
              <a:gd name="adj" fmla="val 12000"/>
            </a:avLst>
          </a:prstGeom>
          <a:solidFill>
            <a:srgbClr val="1D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639312" y="4828032"/>
            <a:ext cx="1069808" cy="329184"/>
          </a:xfrm>
          <a:prstGeom prst="roundRect">
            <a:avLst>
              <a:gd name="adj" fmla="val 12000"/>
            </a:avLst>
          </a:prstGeom>
          <a:solidFill>
            <a:srgbClr val="FFB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84080" y="4782312"/>
            <a:ext cx="932688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700" b="1">
                <a:solidFill>
                  <a:srgbClr val="F7FAFC"/>
                </a:solidFill>
                <a:latin typeface="Aptos"/>
              </a:rPr>
              <a:t>93.9 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35640" y="4782312"/>
            <a:ext cx="60350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FFB75F"/>
                </a:solidFill>
                <a:latin typeface="Aptos"/>
              </a:rPr>
              <a:t>CPU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5870448"/>
            <a:ext cx="1051560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ABECF"/>
                </a:solidFill>
                <a:latin typeface="Aptos"/>
              </a:rPr>
              <a:t>Times reconstructed from saved rows/s; the benchmark reports the median.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38912"/>
            <a:ext cx="73152" cy="448056"/>
          </a:xfrm>
          <a:prstGeom prst="rect">
            <a:avLst/>
          </a:prstGeom>
          <a:solidFill>
            <a:srgbClr val="4ED7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320040"/>
            <a:ext cx="1069848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4ED7C6"/>
                </a:solidFill>
                <a:latin typeface="Aptos"/>
              </a:rPr>
              <a:t>ONE-SHOT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667512"/>
            <a:ext cx="1083564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900" b="1">
                <a:solidFill>
                  <a:srgbClr val="F7FAFC"/>
                </a:solidFill>
                <a:latin typeface="Aptos"/>
              </a:rPr>
              <a:t>For one new matrix pattern, CPU wins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1009376" cy="13716"/>
          </a:xfrm>
          <a:prstGeom prst="rect">
            <a:avLst/>
          </a:prstGeom>
          <a:solidFill>
            <a:srgbClr val="1D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47104"/>
            <a:ext cx="99669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ABECF"/>
                </a:solidFill>
                <a:latin typeface="Aptos"/>
              </a:rPr>
              <a:t>Source: local ILU0 benchmark code and saved SuiteSparse bcsstk36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19672"/>
            <a:ext cx="45720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AABECF"/>
                </a:solidFill>
                <a:latin typeface="Aptos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1709928"/>
            <a:ext cx="10588752" cy="3456432"/>
          </a:xfrm>
          <a:prstGeom prst="roundRect">
            <a:avLst>
              <a:gd name="adj" fmla="val 12000"/>
            </a:avLst>
          </a:prstGeom>
          <a:solidFill>
            <a:srgbClr val="16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2103120"/>
            <a:ext cx="210312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FFB75F"/>
                </a:solidFill>
                <a:latin typeface="Aptos"/>
              </a:rPr>
              <a:t>CPU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2148840"/>
            <a:ext cx="1930859" cy="475488"/>
          </a:xfrm>
          <a:prstGeom prst="roundRect">
            <a:avLst>
              <a:gd name="adj" fmla="val 12000"/>
            </a:avLst>
          </a:prstGeom>
          <a:solidFill>
            <a:srgbClr val="FFB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59368" y="2112264"/>
            <a:ext cx="2103120" cy="4937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300" b="1">
                <a:solidFill>
                  <a:srgbClr val="F7FAFC"/>
                </a:solidFill>
                <a:latin typeface="Aptos"/>
              </a:rPr>
              <a:t>93.9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3255264"/>
            <a:ext cx="2103120" cy="7040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4ED7C6"/>
                </a:solidFill>
                <a:latin typeface="Aptos"/>
              </a:rPr>
              <a:t>Sync-free
GPU E2E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73552" y="3401568"/>
            <a:ext cx="5029200" cy="475488"/>
          </a:xfrm>
          <a:prstGeom prst="roundRect">
            <a:avLst>
              <a:gd name="adj" fmla="val 12000"/>
            </a:avLst>
          </a:prstGeom>
          <a:solidFill>
            <a:srgbClr val="4ED7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59368" y="3374136"/>
            <a:ext cx="2103120" cy="4937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300" b="1">
                <a:solidFill>
                  <a:srgbClr val="F7FAFC"/>
                </a:solidFill>
                <a:latin typeface="Aptos"/>
              </a:rPr>
              <a:t>244.7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4507992"/>
            <a:ext cx="9966960" cy="3749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F7FAFC"/>
                </a:solidFill>
                <a:latin typeface="Aptos"/>
              </a:rPr>
              <a:t>The GPU end-to-end path takes 2.6× as long.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5623560"/>
            <a:ext cx="10259568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0">
                <a:solidFill>
                  <a:srgbClr val="AABECF"/>
                </a:solidFill>
                <a:latin typeface="Aptos"/>
              </a:rPr>
              <a:t>DAG construction, allocation, transfer, and result copying are paid on every one-shot run.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38912"/>
            <a:ext cx="73152" cy="448056"/>
          </a:xfrm>
          <a:prstGeom prst="rect">
            <a:avLst/>
          </a:prstGeom>
          <a:solidFill>
            <a:srgbClr val="4ED7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320040"/>
            <a:ext cx="1069848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4ED7C6"/>
                </a:solidFill>
                <a:latin typeface="Aptos"/>
              </a:rPr>
              <a:t>REPEATED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667512"/>
            <a:ext cx="1083564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900" b="1">
                <a:solidFill>
                  <a:srgbClr val="F7FAFC"/>
                </a:solidFill>
                <a:latin typeface="Aptos"/>
              </a:rPr>
              <a:t>Preparation can pay off when reused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1009376" cy="13716"/>
          </a:xfrm>
          <a:prstGeom prst="rect">
            <a:avLst/>
          </a:prstGeom>
          <a:solidFill>
            <a:srgbClr val="1D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47104"/>
            <a:ext cx="99669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ABECF"/>
                </a:solidFill>
                <a:latin typeface="Aptos"/>
              </a:rPr>
              <a:t>Source: local ILU0 benchmark code and saved SuiteSparse bcsstk36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19672"/>
            <a:ext cx="45720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AABECF"/>
                </a:solidFill>
                <a:latin typeface="Aptos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453896"/>
            <a:ext cx="10607040" cy="4846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900" b="0">
                <a:solidFill>
                  <a:srgbClr val="AABECF"/>
                </a:solidFill>
                <a:latin typeface="Aptos"/>
              </a:rPr>
              <a:t>Approximate initial cost: 216.1 ms  ·  prepared run: 28.6 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084831"/>
            <a:ext cx="10716768" cy="3172968"/>
          </a:xfrm>
          <a:prstGeom prst="roundRect">
            <a:avLst>
              <a:gd name="adj" fmla="val 12000"/>
            </a:avLst>
          </a:prstGeom>
          <a:solidFill>
            <a:srgbClr val="16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386584"/>
            <a:ext cx="384048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F7FAFC"/>
                </a:solidFill>
                <a:latin typeface="Aptos"/>
              </a:rPr>
              <a:t>Repeated runs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2889504"/>
            <a:ext cx="1810512" cy="1901952"/>
          </a:xfrm>
          <a:prstGeom prst="roundRect">
            <a:avLst>
              <a:gd name="adj" fmla="val 12000"/>
            </a:avLst>
          </a:prstGeom>
          <a:solidFill>
            <a:srgbClr val="1D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3063240"/>
            <a:ext cx="1682496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7FAFC"/>
                </a:solidFill>
                <a:latin typeface="Aptos"/>
              </a:rPr>
              <a:t>1 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575304"/>
            <a:ext cx="1636776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FFB75F"/>
                </a:solidFill>
                <a:latin typeface="Aptos"/>
              </a:rPr>
              <a:t>CPU  94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3986784"/>
            <a:ext cx="1636776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4ED7C6"/>
                </a:solidFill>
                <a:latin typeface="Aptos"/>
              </a:rPr>
              <a:t>GPU  245 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27248" y="2889504"/>
            <a:ext cx="1810512" cy="1901952"/>
          </a:xfrm>
          <a:prstGeom prst="roundRect">
            <a:avLst>
              <a:gd name="adj" fmla="val 12000"/>
            </a:avLst>
          </a:prstGeom>
          <a:solidFill>
            <a:srgbClr val="1D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91256" y="3063240"/>
            <a:ext cx="1682496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7FAFC"/>
                </a:solidFill>
                <a:latin typeface="Aptos"/>
              </a:rPr>
              <a:t>2 runs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575304"/>
            <a:ext cx="1636776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FFB75F"/>
                </a:solidFill>
                <a:latin typeface="Aptos"/>
              </a:rPr>
              <a:t>CPU  188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986784"/>
            <a:ext cx="1636776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4ED7C6"/>
                </a:solidFill>
                <a:latin typeface="Aptos"/>
              </a:rPr>
              <a:t>GPU  273 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57216" y="2889504"/>
            <a:ext cx="1810512" cy="1901952"/>
          </a:xfrm>
          <a:prstGeom prst="roundRect">
            <a:avLst>
              <a:gd name="adj" fmla="val 12000"/>
            </a:avLst>
          </a:prstGeom>
          <a:solidFill>
            <a:srgbClr val="1D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21224" y="3063240"/>
            <a:ext cx="1682496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7FAFC"/>
                </a:solidFill>
                <a:latin typeface="Aptos"/>
              </a:rPr>
              <a:t>3 runs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3575304"/>
            <a:ext cx="1636776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FFB75F"/>
                </a:solidFill>
                <a:latin typeface="Aptos"/>
              </a:rPr>
              <a:t>CPU  282 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3986784"/>
            <a:ext cx="1636776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4ED7C6"/>
                </a:solidFill>
                <a:latin typeface="Aptos"/>
              </a:rPr>
              <a:t>GPU  302 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87184" y="2889504"/>
            <a:ext cx="1810512" cy="1901952"/>
          </a:xfrm>
          <a:prstGeom prst="roundRect">
            <a:avLst>
              <a:gd name="adj" fmla="val 12000"/>
            </a:avLst>
          </a:prstGeom>
          <a:solidFill>
            <a:srgbClr val="1C5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51192" y="3063240"/>
            <a:ext cx="1682496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7FAFC"/>
                </a:solidFill>
                <a:latin typeface="Aptos"/>
              </a:rPr>
              <a:t>4 runs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0336" y="3575304"/>
            <a:ext cx="1636776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FFB75F"/>
                </a:solidFill>
                <a:latin typeface="Aptos"/>
              </a:rPr>
              <a:t>CPU  376 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0336" y="3986784"/>
            <a:ext cx="1636776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4ED7C6"/>
                </a:solidFill>
                <a:latin typeface="Aptos"/>
              </a:rPr>
              <a:t>GPU  330 ms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17152" y="2889504"/>
            <a:ext cx="1810512" cy="1901952"/>
          </a:xfrm>
          <a:prstGeom prst="roundRect">
            <a:avLst>
              <a:gd name="adj" fmla="val 12000"/>
            </a:avLst>
          </a:prstGeom>
          <a:solidFill>
            <a:srgbClr val="1D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81160" y="3063240"/>
            <a:ext cx="1682496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7FAFC"/>
                </a:solidFill>
                <a:latin typeface="Aptos"/>
              </a:rPr>
              <a:t>10 runs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0304" y="3575304"/>
            <a:ext cx="1636776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FFB75F"/>
                </a:solidFill>
                <a:latin typeface="Aptos"/>
              </a:rPr>
              <a:t>CPU  939 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0304" y="3986784"/>
            <a:ext cx="1636776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4ED7C6"/>
                </a:solidFill>
                <a:latin typeface="Aptos"/>
              </a:rPr>
              <a:t>GPU  502 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504688"/>
            <a:ext cx="10369296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AABECF"/>
                </a:solidFill>
                <a:latin typeface="Aptos"/>
              </a:rPr>
              <a:t>Illustrative break-even: ~4 runs with the same sparsity pattern. This estimate subtracts separate benchmark measurements; measure a true repeated-run workflow next.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38912"/>
            <a:ext cx="73152" cy="448056"/>
          </a:xfrm>
          <a:prstGeom prst="rect">
            <a:avLst/>
          </a:prstGeom>
          <a:solidFill>
            <a:srgbClr val="4ED7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320040"/>
            <a:ext cx="1069848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4ED7C6"/>
                </a:solidFill>
                <a:latin typeface="Aptos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667512"/>
            <a:ext cx="1083564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900" b="1">
                <a:solidFill>
                  <a:srgbClr val="F7FAFC"/>
                </a:solidFill>
                <a:latin typeface="Aptos"/>
              </a:rPr>
              <a:t>What the benchmark supports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1009376" cy="13716"/>
          </a:xfrm>
          <a:prstGeom prst="rect">
            <a:avLst/>
          </a:prstGeom>
          <a:solidFill>
            <a:srgbClr val="1D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47104"/>
            <a:ext cx="99669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ABECF"/>
                </a:solidFill>
                <a:latin typeface="Aptos"/>
              </a:rPr>
              <a:t>Source: local ILU0 benchmark code and saved SuiteSparse bcsstk36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19672"/>
            <a:ext cx="45720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AABECF"/>
                </a:solidFill>
                <a:latin typeface="Aptos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1618488"/>
            <a:ext cx="3547872" cy="3547872"/>
          </a:xfrm>
          <a:prstGeom prst="roundRect">
            <a:avLst>
              <a:gd name="adj" fmla="val 12000"/>
            </a:avLst>
          </a:prstGeom>
          <a:solidFill>
            <a:srgbClr val="16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0392" y="1847088"/>
            <a:ext cx="54864" cy="438912"/>
          </a:xfrm>
          <a:prstGeom prst="rect">
            <a:avLst/>
          </a:prstGeom>
          <a:solidFill>
            <a:srgbClr val="4ED7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801368"/>
            <a:ext cx="2999232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F7FAFC"/>
                </a:solidFill>
                <a:latin typeface="Aptos"/>
              </a:rPr>
              <a:t>1 · Scheduler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450592"/>
            <a:ext cx="2990088" cy="2560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0">
                <a:solidFill>
                  <a:srgbClr val="AABECF"/>
                </a:solidFill>
                <a:latin typeface="Aptos"/>
              </a:rPr>
              <a:t>Prepared sync-free is 9.1× faster than prepared wavefront on bcsstk36.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1618488"/>
            <a:ext cx="3547872" cy="3547872"/>
          </a:xfrm>
          <a:prstGeom prst="roundRect">
            <a:avLst>
              <a:gd name="adj" fmla="val 12000"/>
            </a:avLst>
          </a:prstGeom>
          <a:solidFill>
            <a:srgbClr val="16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07992" y="1847088"/>
            <a:ext cx="54864" cy="438912"/>
          </a:xfrm>
          <a:prstGeom prst="rect">
            <a:avLst/>
          </a:prstGeom>
          <a:solidFill>
            <a:srgbClr val="FFB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801368"/>
            <a:ext cx="2999232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F7FAFC"/>
                </a:solidFill>
                <a:latin typeface="Aptos"/>
              </a:rPr>
              <a:t>2 · Setup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450592"/>
            <a:ext cx="2990088" cy="2560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0">
                <a:solidFill>
                  <a:srgbClr val="AABECF"/>
                </a:solidFill>
                <a:latin typeface="Aptos"/>
              </a:rPr>
              <a:t>The CPU wins a one-shot run. Reusing the same sparsity pattern can amortize preparation.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82712" y="1618488"/>
            <a:ext cx="3547872" cy="3547872"/>
          </a:xfrm>
          <a:prstGeom prst="roundRect">
            <a:avLst>
              <a:gd name="adj" fmla="val 12000"/>
            </a:avLst>
          </a:prstGeom>
          <a:solidFill>
            <a:srgbClr val="16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65592" y="1847088"/>
            <a:ext cx="54864" cy="438912"/>
          </a:xfrm>
          <a:prstGeom prst="rect">
            <a:avLst/>
          </a:prstGeom>
          <a:solidFill>
            <a:srgbClr val="69B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801368"/>
            <a:ext cx="2999232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F7FAFC"/>
                </a:solidFill>
                <a:latin typeface="Aptos"/>
              </a:rPr>
              <a:t>3 · Next experiment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2450592"/>
            <a:ext cx="2990088" cy="2560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0">
                <a:solidFill>
                  <a:srgbClr val="AABECF"/>
                </a:solidFill>
                <a:latin typeface="Aptos"/>
              </a:rPr>
              <a:t>Benchmark numerical ILU0 itself, measure the preparation stages separately, and test more real matrices.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586984"/>
            <a:ext cx="10469880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7FAFC"/>
                </a:solidFill>
                <a:latin typeface="Aptos"/>
              </a:rPr>
              <a:t>Claim this as a row-dependency scheduling result, not a full ILU0 speedup.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ILU0 dependency scheduling benchmarks</dc:title>
  <dc:subject>Wavefront versus sync-free on SuiteSparse bcsstk36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